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3" r:id="rId9"/>
    <p:sldId id="261" r:id="rId10"/>
    <p:sldId id="262"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a:t>Personality prediction system Through CV Analysis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Main Objective</a:t>
            </a:r>
            <a:endParaRPr lang="en-US"/>
          </a:p>
        </p:txBody>
      </p:sp>
      <p:sp>
        <p:nvSpPr>
          <p:cNvPr id="3" name="Content Placeholder 2"/>
          <p:cNvSpPr>
            <a:spLocks noGrp="1"/>
          </p:cNvSpPr>
          <p:nvPr>
            <p:ph sz="half" idx="1"/>
          </p:nvPr>
        </p:nvSpPr>
        <p:spPr>
          <a:xfrm>
            <a:off x="838200" y="1825625"/>
            <a:ext cx="7810500" cy="4351655"/>
          </a:xfrm>
        </p:spPr>
        <p:txBody>
          <a:bodyPr>
            <a:normAutofit/>
          </a:bodyPr>
          <a:p>
            <a:pPr marL="0" indent="0"/>
            <a:r>
              <a:rPr lang="en-US" sz="2000"/>
              <a:t>Our system can used in many business sectors that may require expert candidate. </a:t>
            </a:r>
            <a:endParaRPr lang="en-US" sz="2000"/>
          </a:p>
          <a:p>
            <a:pPr marL="0" indent="0"/>
            <a:r>
              <a:rPr lang="en-US" sz="2000"/>
              <a:t>This system will reduce workload of the human resources.</a:t>
            </a:r>
            <a:endParaRPr lang="en-US" sz="2000"/>
          </a:p>
          <a:p>
            <a:pPr marL="0" indent="0"/>
            <a:r>
              <a:rPr lang="en-US" sz="2000"/>
              <a:t> This system will help the human resource to select right candidate for desired job profile, which in turn provide expert workforce for the organization. Admin can easily shortlist/select the appropriate candidate for particular job profile.</a:t>
            </a:r>
            <a:endParaRPr lang="en-US" sz="2000"/>
          </a:p>
          <a:p>
            <a:pPr marL="0" indent="0"/>
            <a:r>
              <a:rPr lang="en-US" sz="2000"/>
              <a:t> This will enable a more effective way to short list submitted candidate CVs from a large number of applicants providing a consistent and fair CV ranking policy, which can be legally justified. </a:t>
            </a:r>
            <a:endParaRPr lang="en-US" sz="2000"/>
          </a:p>
        </p:txBody>
      </p:sp>
      <p:pic>
        <p:nvPicPr>
          <p:cNvPr id="2097156" name="Picture 4"/>
          <p:cNvPicPr>
            <a:picLocks noChangeAspect="1"/>
          </p:cNvPicPr>
          <p:nvPr>
            <p:ph sz="half" idx="2"/>
          </p:nvPr>
        </p:nvPicPr>
        <p:blipFill>
          <a:blip r:embed="rId1"/>
          <a:stretch>
            <a:fillRect/>
          </a:stretch>
        </p:blipFill>
        <p:spPr>
          <a:xfrm rot="1503375">
            <a:off x="8688070" y="1249045"/>
            <a:ext cx="2886710" cy="28867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Plan</a:t>
            </a:r>
            <a:endParaRPr lang="en-US"/>
          </a:p>
        </p:txBody>
      </p:sp>
      <p:sp>
        <p:nvSpPr>
          <p:cNvPr id="3" name="Content Placeholder 2"/>
          <p:cNvSpPr>
            <a:spLocks noGrp="1"/>
          </p:cNvSpPr>
          <p:nvPr>
            <p:ph sz="half" idx="1"/>
          </p:nvPr>
        </p:nvSpPr>
        <p:spPr>
          <a:xfrm>
            <a:off x="609600" y="1189355"/>
            <a:ext cx="5384800" cy="4953000"/>
          </a:xfrm>
        </p:spPr>
        <p:txBody>
          <a:bodyPr/>
          <a:p>
            <a:pPr marL="0" indent="0">
              <a:buNone/>
            </a:pPr>
            <a:r>
              <a:rPr lang="en-US" sz="2000" b="1"/>
              <a:t>Design</a:t>
            </a:r>
            <a:endParaRPr lang="en-US" sz="2000"/>
          </a:p>
          <a:p>
            <a:r>
              <a:rPr lang="en-US" sz="2000"/>
              <a:t>creating classes and interfaces</a:t>
            </a:r>
            <a:endParaRPr lang="en-US" sz="2000"/>
          </a:p>
          <a:p>
            <a:r>
              <a:rPr lang="en-US" sz="2000"/>
              <a:t>Identifying required attributes and methods.</a:t>
            </a:r>
            <a:endParaRPr lang="en-US" sz="2000"/>
          </a:p>
          <a:p>
            <a:pPr marL="0" indent="0">
              <a:buNone/>
            </a:pPr>
            <a:r>
              <a:rPr lang="en-US" sz="2000" b="1"/>
              <a:t>creating Layers:</a:t>
            </a:r>
            <a:endParaRPr lang="en-US" sz="2000"/>
          </a:p>
          <a:p>
            <a:r>
              <a:rPr lang="en-US" sz="2000"/>
              <a:t>Making independent and modular approach</a:t>
            </a:r>
            <a:endParaRPr lang="en-US" sz="2000"/>
          </a:p>
          <a:p>
            <a:pPr marL="0" indent="0">
              <a:buNone/>
            </a:pPr>
            <a:r>
              <a:rPr lang="en-US" sz="2000" b="1"/>
              <a:t>TDD approach:</a:t>
            </a:r>
            <a:endParaRPr lang="en-US" sz="2000"/>
          </a:p>
          <a:p>
            <a:r>
              <a:rPr lang="en-US" sz="2000"/>
              <a:t>Identifying Test Cases for each module</a:t>
            </a:r>
            <a:endParaRPr lang="en-US" sz="2000"/>
          </a:p>
          <a:p>
            <a:r>
              <a:rPr lang="en-US" sz="2000"/>
              <a:t>preparing fail and success cases as well.</a:t>
            </a:r>
            <a:endParaRPr lang="en-US" sz="2000"/>
          </a:p>
          <a:p>
            <a:endParaRPr lang="en-US" sz="2000"/>
          </a:p>
        </p:txBody>
      </p:sp>
      <p:pic>
        <p:nvPicPr>
          <p:cNvPr id="5" name="Content Placeholder 4"/>
          <p:cNvPicPr>
            <a:picLocks noChangeAspect="1"/>
          </p:cNvPicPr>
          <p:nvPr>
            <p:ph sz="half" idx="2"/>
          </p:nvPr>
        </p:nvPicPr>
        <p:blipFill>
          <a:blip r:embed="rId1"/>
          <a:stretch>
            <a:fillRect/>
          </a:stretch>
        </p:blipFill>
        <p:spPr>
          <a:xfrm>
            <a:off x="7077710" y="1962150"/>
            <a:ext cx="3968115" cy="31229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Actors</a:t>
            </a:r>
            <a:endParaRPr lang="en-US"/>
          </a:p>
        </p:txBody>
      </p:sp>
      <p:sp>
        <p:nvSpPr>
          <p:cNvPr id="3" name="Content Placeholder 2"/>
          <p:cNvSpPr>
            <a:spLocks noGrp="1"/>
          </p:cNvSpPr>
          <p:nvPr>
            <p:ph idx="1"/>
          </p:nvPr>
        </p:nvSpPr>
        <p:spPr/>
        <p:txBody>
          <a:bodyPr/>
          <a:p>
            <a:pPr marL="0" indent="0">
              <a:buNone/>
            </a:pPr>
            <a:r>
              <a:rPr lang="en-US" sz="2000" b="1">
                <a:sym typeface="+mn-ea"/>
              </a:rPr>
              <a:t>Candidate-</a:t>
            </a:r>
            <a:endParaRPr lang="en-IN" sz="2000">
              <a:solidFill>
                <a:schemeClr val="tx1"/>
              </a:solidFill>
            </a:endParaRPr>
          </a:p>
          <a:p>
            <a:r>
              <a:rPr lang="en-US" sz="2000">
                <a:sym typeface="+mn-ea"/>
              </a:rPr>
              <a:t>Candidate can access the site and can apply for the job application. Candidate is required to fill the fields as well as profile summary. Candidate can view all jobs according to his/her interest can apply for a job. </a:t>
            </a:r>
            <a:endParaRPr lang="en-IN" sz="2000">
              <a:solidFill>
                <a:schemeClr val="tx1"/>
              </a:solidFill>
            </a:endParaRPr>
          </a:p>
          <a:p>
            <a:endParaRPr lang="en-IN" sz="2000">
              <a:solidFill>
                <a:schemeClr val="tx1"/>
              </a:solidFill>
            </a:endParaRPr>
          </a:p>
          <a:p>
            <a:pPr marL="0" indent="0">
              <a:buNone/>
            </a:pPr>
            <a:r>
              <a:rPr lang="en-US" sz="2000" b="1">
                <a:sym typeface="+mn-ea"/>
              </a:rPr>
              <a:t>Admin- </a:t>
            </a:r>
            <a:endParaRPr lang="en-IN" sz="2000">
              <a:solidFill>
                <a:schemeClr val="tx1"/>
              </a:solidFill>
            </a:endParaRPr>
          </a:p>
          <a:p>
            <a:r>
              <a:rPr lang="en-US" sz="2000">
                <a:sym typeface="+mn-ea"/>
              </a:rPr>
              <a:t>Admin will validate all the CV's and will provide an acknowledgemwnt to candidate whether applied Job  meets according to the requirements or not. </a:t>
            </a:r>
            <a:endParaRPr lang="en-IN" sz="2000">
              <a:solidFill>
                <a:schemeClr val="tx1"/>
              </a:solidFill>
            </a:endParaRPr>
          </a:p>
          <a:p>
            <a:pPr marL="0" indent="0">
              <a:buNone/>
            </a:pPr>
            <a:endParaRPr lang="en-US" sz="2000">
              <a:sym typeface="+mn-ea"/>
            </a:endParaRPr>
          </a:p>
          <a:p>
            <a:pPr marL="0" indent="0">
              <a:buNone/>
            </a:pPr>
            <a:endParaRPr lang="en-US" sz="2000">
              <a:sym typeface="+mn-ea"/>
            </a:endParaRPr>
          </a:p>
          <a:p>
            <a:pPr marL="0" indent="0">
              <a:buNone/>
            </a:pPr>
            <a:r>
              <a:rPr lang="en-US" sz="2000">
                <a:sym typeface="+mn-ea"/>
              </a:rPr>
              <a:t>“Our system helps to the HR unit to shortlist the candidate in more precise way and ensuring candidate meets the job requirement”</a:t>
            </a:r>
            <a:endParaRPr lang="en-US" sz="2000">
              <a:solidFill>
                <a:schemeClr val="tx1"/>
              </a:solidFill>
            </a:endParaRPr>
          </a:p>
          <a:p>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Tools Used:</a:t>
            </a:r>
            <a:endParaRPr lang="en-US"/>
          </a:p>
        </p:txBody>
      </p:sp>
      <p:sp>
        <p:nvSpPr>
          <p:cNvPr id="3" name="Content Placeholder 2"/>
          <p:cNvSpPr>
            <a:spLocks noGrp="1"/>
          </p:cNvSpPr>
          <p:nvPr>
            <p:ph idx="1"/>
          </p:nvPr>
        </p:nvSpPr>
        <p:spPr>
          <a:xfrm>
            <a:off x="3751580" y="1764030"/>
            <a:ext cx="6409055" cy="4953000"/>
          </a:xfrm>
        </p:spPr>
        <p:txBody>
          <a:bodyPr/>
          <a:p>
            <a:pPr marL="0" indent="0">
              <a:buNone/>
            </a:pPr>
            <a:r>
              <a:rPr lang="en-US" sz="2000" b="1"/>
              <a:t>Technology:</a:t>
            </a:r>
            <a:endParaRPr lang="en-US" sz="2000"/>
          </a:p>
          <a:p>
            <a:pPr marL="0" indent="0">
              <a:buNone/>
            </a:pPr>
            <a:r>
              <a:rPr lang="en-US" sz="2000"/>
              <a:t>Spring boot,Angular 9</a:t>
            </a:r>
            <a:endParaRPr lang="en-US" sz="2000"/>
          </a:p>
          <a:p>
            <a:pPr marL="0" indent="0">
              <a:buNone/>
            </a:pPr>
            <a:r>
              <a:rPr lang="en-US" sz="2000" b="1"/>
              <a:t>web Technologies:</a:t>
            </a:r>
            <a:endParaRPr lang="en-US" sz="2000"/>
          </a:p>
          <a:p>
            <a:pPr marL="0" indent="0">
              <a:buNone/>
            </a:pPr>
            <a:r>
              <a:rPr lang="en-US" sz="2000"/>
              <a:t>HTML,CSS,Bootstrap</a:t>
            </a:r>
            <a:endParaRPr lang="en-US" sz="2000"/>
          </a:p>
          <a:p>
            <a:pPr marL="0" indent="0">
              <a:buNone/>
            </a:pPr>
            <a:r>
              <a:rPr lang="en-US" sz="2000" b="1"/>
              <a:t>Database: </a:t>
            </a:r>
            <a:endParaRPr lang="en-US" sz="2000"/>
          </a:p>
          <a:p>
            <a:pPr marL="0" indent="0">
              <a:buNone/>
            </a:pPr>
            <a:r>
              <a:rPr lang="en-US" sz="2000"/>
              <a:t>MYSQL</a:t>
            </a:r>
            <a:endParaRPr lang="en-US"/>
          </a:p>
          <a:p>
            <a:pPr marL="0" indent="0">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Architecture</a:t>
            </a:r>
            <a:endParaRPr lang="en-US"/>
          </a:p>
        </p:txBody>
      </p:sp>
      <p:pic>
        <p:nvPicPr>
          <p:cNvPr id="5" name="Content Placeholder 4"/>
          <p:cNvPicPr>
            <a:picLocks noChangeAspect="1"/>
          </p:cNvPicPr>
          <p:nvPr>
            <p:ph idx="1"/>
          </p:nvPr>
        </p:nvPicPr>
        <p:blipFill>
          <a:blip r:embed="rId1"/>
          <a:stretch>
            <a:fillRect/>
          </a:stretch>
        </p:blipFill>
        <p:spPr>
          <a:xfrm>
            <a:off x="2018030" y="969645"/>
            <a:ext cx="8804910" cy="55886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54685" y="2139315"/>
            <a:ext cx="2105025" cy="582930"/>
          </a:xfrm>
        </p:spPr>
        <p:txBody>
          <a:bodyPr/>
          <a:p>
            <a:br>
              <a:rPr lang="en-US"/>
            </a:br>
            <a:br>
              <a:rPr lang="en-US"/>
            </a:br>
            <a:r>
              <a:rPr lang="en-US"/>
              <a:t>Main Flow</a:t>
            </a:r>
            <a:br>
              <a:rPr lang="en-US"/>
            </a:br>
            <a:r>
              <a:rPr lang="en-US"/>
              <a:t>of our system</a:t>
            </a:r>
            <a:endParaRPr lang="en-US"/>
          </a:p>
        </p:txBody>
      </p:sp>
      <p:pic>
        <p:nvPicPr>
          <p:cNvPr id="4" name="Content Placeholder 3" descr="flowofpps (1)"/>
          <p:cNvPicPr>
            <a:picLocks noChangeAspect="1"/>
          </p:cNvPicPr>
          <p:nvPr>
            <p:ph idx="1"/>
          </p:nvPr>
        </p:nvPicPr>
        <p:blipFill>
          <a:blip r:embed="rId1"/>
          <a:stretch>
            <a:fillRect/>
          </a:stretch>
        </p:blipFill>
        <p:spPr>
          <a:xfrm>
            <a:off x="2200910" y="39370"/>
            <a:ext cx="9826625" cy="67798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 Case Diagram</a:t>
            </a:r>
            <a:endParaRPr lang="en-US"/>
          </a:p>
        </p:txBody>
      </p:sp>
      <p:pic>
        <p:nvPicPr>
          <p:cNvPr id="4" name="Content Placeholder 3" descr="usecase"/>
          <p:cNvPicPr>
            <a:picLocks noChangeAspect="1"/>
          </p:cNvPicPr>
          <p:nvPr>
            <p:ph idx="1"/>
          </p:nvPr>
        </p:nvPicPr>
        <p:blipFill>
          <a:blip r:embed="rId1"/>
          <a:stretch>
            <a:fillRect/>
          </a:stretch>
        </p:blipFill>
        <p:spPr>
          <a:xfrm>
            <a:off x="609600" y="773430"/>
            <a:ext cx="10403840" cy="5867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68345" y="2338070"/>
            <a:ext cx="4778375" cy="3110230"/>
          </a:xfrm>
        </p:spPr>
        <p:txBody>
          <a:bodyPr/>
          <a:p>
            <a:pPr marL="0" indent="0">
              <a:buNone/>
            </a:pPr>
            <a:r>
              <a:rPr lang="en-US" sz="2000" b="1">
                <a:cs typeface="+mn-lt"/>
              </a:rPr>
              <a:t>Team Details:</a:t>
            </a:r>
            <a:endParaRPr lang="en-US" sz="2000">
              <a:cs typeface="+mn-lt"/>
            </a:endParaRPr>
          </a:p>
          <a:p>
            <a:pPr marL="171450" indent="-171450">
              <a:lnSpc>
                <a:spcPct val="100000"/>
              </a:lnSpc>
              <a:buFont typeface="Arial" panose="020B0604020202020204" pitchFamily="34" charset="0"/>
              <a:buChar char="•"/>
            </a:pPr>
            <a:r>
              <a:rPr lang="en-US" sz="2000" dirty="0">
                <a:cs typeface="+mn-lt"/>
                <a:sym typeface="+mn-ea"/>
              </a:rPr>
              <a:t>Shraddha Padaye</a:t>
            </a:r>
            <a:endParaRPr lang="en-US" sz="2000" dirty="0">
              <a:solidFill>
                <a:schemeClr val="tx1"/>
              </a:solidFill>
              <a:cs typeface="+mn-lt"/>
            </a:endParaRPr>
          </a:p>
          <a:p>
            <a:pPr marL="171450" indent="-171450">
              <a:lnSpc>
                <a:spcPct val="100000"/>
              </a:lnSpc>
              <a:buFont typeface="Arial" panose="020B0604020202020204" pitchFamily="34" charset="0"/>
              <a:buChar char="•"/>
            </a:pPr>
            <a:r>
              <a:rPr lang="en-US" sz="2000" dirty="0">
                <a:cs typeface="+mn-lt"/>
                <a:sym typeface="+mn-ea"/>
              </a:rPr>
              <a:t>Madhura Gondhalekar</a:t>
            </a:r>
            <a:endParaRPr lang="en-US" sz="2000" dirty="0">
              <a:solidFill>
                <a:schemeClr val="tx1"/>
              </a:solidFill>
              <a:cs typeface="+mn-lt"/>
            </a:endParaRPr>
          </a:p>
          <a:p>
            <a:pPr marL="171450" indent="-171450">
              <a:lnSpc>
                <a:spcPct val="100000"/>
              </a:lnSpc>
              <a:buFont typeface="Arial" panose="020B0604020202020204" pitchFamily="34" charset="0"/>
              <a:buChar char="•"/>
            </a:pPr>
            <a:r>
              <a:rPr lang="en-US" sz="2000" dirty="0">
                <a:cs typeface="+mn-lt"/>
                <a:sym typeface="+mn-ea"/>
              </a:rPr>
              <a:t>Hema Mounika Garre</a:t>
            </a:r>
            <a:endParaRPr lang="en-US" sz="2000" dirty="0">
              <a:solidFill>
                <a:schemeClr val="tx1"/>
              </a:solidFill>
              <a:cs typeface="+mn-lt"/>
            </a:endParaRPr>
          </a:p>
          <a:p>
            <a:pPr marL="171450" indent="-171450">
              <a:lnSpc>
                <a:spcPct val="100000"/>
              </a:lnSpc>
              <a:buFont typeface="Arial" panose="020B0604020202020204" pitchFamily="34" charset="0"/>
              <a:buChar char="•"/>
            </a:pPr>
            <a:r>
              <a:rPr lang="en-US" sz="2000" dirty="0">
                <a:cs typeface="+mn-lt"/>
                <a:sym typeface="+mn-ea"/>
              </a:rPr>
              <a:t>Anita Yadav</a:t>
            </a:r>
            <a:endParaRPr lang="en-US" sz="2000" dirty="0">
              <a:solidFill>
                <a:schemeClr val="tx1"/>
              </a:solidFill>
              <a:cs typeface="+mn-lt"/>
            </a:endParaRPr>
          </a:p>
          <a:p>
            <a:pPr marL="171450" indent="-171450">
              <a:lnSpc>
                <a:spcPct val="100000"/>
              </a:lnSpc>
              <a:buFont typeface="Arial" panose="020B0604020202020204" pitchFamily="34" charset="0"/>
              <a:buChar char="•"/>
            </a:pPr>
            <a:r>
              <a:rPr lang="en-US" altLang="en-US" sz="2000" dirty="0">
                <a:cs typeface="+mn-lt"/>
                <a:sym typeface="+mn-ea"/>
              </a:rPr>
              <a:t>Annaporna</a:t>
            </a:r>
            <a:endParaRPr lang="zh-CN" altLang="en-US" sz="2000">
              <a:solidFill>
                <a:schemeClr val="tx1"/>
              </a:solidFill>
              <a:cs typeface="+mn-lt"/>
            </a:endParaRPr>
          </a:p>
          <a:p>
            <a:pPr marL="171450" indent="-171450">
              <a:lnSpc>
                <a:spcPct val="100000"/>
              </a:lnSpc>
              <a:buFont typeface="Arial" panose="020B0604020202020204" pitchFamily="34" charset="0"/>
              <a:buChar char="•"/>
            </a:pPr>
            <a:r>
              <a:rPr lang="en-US" altLang="en-US" sz="2000" dirty="0">
                <a:cs typeface="+mn-lt"/>
                <a:sym typeface="+mn-ea"/>
              </a:rPr>
              <a:t>Harshit</a:t>
            </a:r>
            <a:endParaRPr lang="zh-CN" altLang="en-US" sz="2000">
              <a:solidFill>
                <a:schemeClr val="tx1"/>
              </a:solidFill>
              <a:cs typeface="+mn-lt"/>
            </a:endParaRPr>
          </a:p>
          <a:p>
            <a:pPr marL="0" indent="0">
              <a:buNone/>
            </a:pPr>
            <a:endParaRPr lang="en-US" sz="2000" dirty="0">
              <a:solidFill>
                <a:schemeClr val="tx1"/>
              </a:solidFill>
              <a:cs typeface="+mn-lt"/>
            </a:endParaRPr>
          </a:p>
          <a:p>
            <a:pPr marL="0" indent="0">
              <a:buNone/>
            </a:pPr>
            <a:endParaRPr lang="en-US" sz="2000">
              <a:cs typeface="+mn-lt"/>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1620</Words>
  <Application>WPS Presentation</Application>
  <PresentationFormat>Widescreen</PresentationFormat>
  <Paragraphs>59</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Arial</vt:lpstr>
      <vt:lpstr>SimSun</vt:lpstr>
      <vt:lpstr>Wingdings</vt:lpstr>
      <vt:lpstr>Microsoft YaHei</vt:lpstr>
      <vt:lpstr>Arial Unicode MS</vt:lpstr>
      <vt:lpstr>Calibri</vt:lpstr>
      <vt:lpstr>Blue Waves</vt:lpstr>
      <vt:lpstr>PowerPoint 演示文稿</vt:lpstr>
      <vt:lpstr>Main Objective</vt:lpstr>
      <vt:lpstr>Plan</vt:lpstr>
      <vt:lpstr>Actors</vt:lpstr>
      <vt:lpstr>Tools Used:</vt:lpstr>
      <vt:lpstr>Architecture</vt:lpstr>
      <vt:lpstr>  Main Flow of our system</vt:lpstr>
      <vt:lpstr>Use Case Diagram</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hi</cp:lastModifiedBy>
  <cp:revision>20</cp:revision>
  <dcterms:created xsi:type="dcterms:W3CDTF">2020-06-15T13:39:00Z</dcterms:created>
  <dcterms:modified xsi:type="dcterms:W3CDTF">2020-06-23T05:57:08Z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1033-11.2.0.9431</vt:lpwstr>
  </property>
</Properties>
</file>